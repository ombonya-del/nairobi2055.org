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19"/>
    <p:sldId id="258" r:id="rId4"/>
    <p:sldId id="267" r:id="rId18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85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761488"/>
            <a:ext cx="850392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502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Nairobi </a:t>
            </a:r>
            <a:r>
              <a:rPr lang="en-US" sz="62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2055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MASTER PLAN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2677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most ambitious urban transformation · 30-year vision · 10 strategic pillars · $200B+ investment scope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907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2055  ·  4 Scenarios  ·  3 Phases  ·  280+ Interventions  ·  nairobi2055.org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3401568"/>
            <a:ext cx="4206240" cy="246888"/>
          </a:xfrm>
          <a:prstGeom prst="roundRect">
            <a:avLst>
              <a:gd name="adj" fmla="val 14815"/>
            </a:avLst>
          </a:prstGeom>
          <a:solidFill>
            <a:srgbClr val="21251C"/>
          </a:solidFill>
          <a:ln w="12700">
            <a:solidFill>
              <a:srgbClr val="3DBF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4198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3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Urban Design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3712464"/>
            <a:ext cx="4206240" cy="246888"/>
          </a:xfrm>
          <a:prstGeom prst="roundRect">
            <a:avLst>
              <a:gd name="adj" fmla="val 14815"/>
            </a:avLst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7307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C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Governance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2608" y="4023360"/>
            <a:ext cx="4206240" cy="246888"/>
          </a:xfrm>
          <a:prstGeom prst="roundRect">
            <a:avLst>
              <a:gd name="adj" fmla="val 14815"/>
            </a:avLst>
          </a:prstGeom>
          <a:solidFill>
            <a:srgbClr val="21251C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40416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37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Economy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4334256"/>
            <a:ext cx="4206240" cy="246888"/>
          </a:xfrm>
          <a:prstGeom prst="roundRect">
            <a:avLst>
              <a:gd name="adj" fmla="val 14815"/>
            </a:avLst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43525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5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Environment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" y="4645152"/>
            <a:ext cx="4206240" cy="246888"/>
          </a:xfrm>
          <a:prstGeom prst="roundRect">
            <a:avLst>
              <a:gd name="adj" fmla="val 14815"/>
            </a:avLst>
          </a:prstGeom>
          <a:solidFill>
            <a:srgbClr val="21251C"/>
          </a:solidFill>
          <a:ln w="12700">
            <a:solidFill>
              <a:srgbClr val="E85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663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E8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Social Fabric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64608" y="3401568"/>
            <a:ext cx="4206240" cy="246888"/>
          </a:xfrm>
          <a:prstGeom prst="roundRect">
            <a:avLst>
              <a:gd name="adj" fmla="val 14815"/>
            </a:avLst>
          </a:prstGeom>
          <a:solidFill>
            <a:srgbClr val="21251C"/>
          </a:solidFill>
          <a:ln w="12700">
            <a:solidFill>
              <a:srgbClr val="8B79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34198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Technology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64608" y="3712464"/>
            <a:ext cx="4206240" cy="246888"/>
          </a:xfrm>
          <a:prstGeom prst="roundRect">
            <a:avLst>
              <a:gd name="adj" fmla="val 14815"/>
            </a:avLst>
          </a:prstGeom>
          <a:solidFill>
            <a:srgbClr val="21251C"/>
          </a:solidFill>
          <a:ln w="12700">
            <a:solidFill>
              <a:srgbClr val="E884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7307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E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Culture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64608" y="4023360"/>
            <a:ext cx="4206240" cy="246888"/>
          </a:xfrm>
          <a:prstGeom prst="roundRect">
            <a:avLst>
              <a:gd name="adj" fmla="val 14815"/>
            </a:avLst>
          </a:prstGeom>
          <a:solidFill>
            <a:srgbClr val="21251C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40416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Healthy Living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64608" y="4334256"/>
            <a:ext cx="4206240" cy="246888"/>
          </a:xfrm>
          <a:prstGeom prst="roundRect">
            <a:avLst>
              <a:gd name="adj" fmla="val 14815"/>
            </a:avLst>
          </a:prstGeom>
          <a:solidFill>
            <a:srgbClr val="21251C"/>
          </a:solidFill>
          <a:ln w="12700">
            <a:solidFill>
              <a:srgbClr val="78BF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43525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7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Transport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64608" y="4645152"/>
            <a:ext cx="4206240" cy="246888"/>
          </a:xfrm>
          <a:prstGeom prst="roundRect">
            <a:avLst>
              <a:gd name="adj" fmla="val 14815"/>
            </a:avLst>
          </a:prstGeom>
          <a:solidFill>
            <a:srgbClr val="21251C"/>
          </a:solidFill>
          <a:ln w="12700">
            <a:solidFill>
              <a:srgbClr val="E86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4663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E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Emergency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05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Nairobi Must Transform — Now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Shape 5"/>
          <p:cNvSpPr/>
          <p:nvPr/>
        </p:nvSpPr>
        <p:spPr>
          <a:xfrm>
            <a:off x="213150" y="1051560"/>
            <a:ext cx="2029968" cy="3566160"/>
          </a:xfrm>
          <a:prstGeom prst="rect">
            <a:avLst/>
          </a:prstGeom>
          <a:solidFill>
            <a:srgbClr val="21251C"/>
          </a:solidFill>
          <a:ln w="19050">
            <a:solidFill>
              <a:srgbClr val="E85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51560"/>
            <a:ext cx="2029968" cy="64008"/>
          </a:xfrm>
          <a:prstGeom prst="rect">
            <a:avLst/>
          </a:prstGeom>
          <a:solidFill>
            <a:srgbClr val="E8505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887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5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8470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Nairobi residents live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settlements with no clean water,</a:t>
            </a:r>
            <a:r>
              <a:rPr lang="en-US" sz="950" dirty="0"/>
              <a:t xml:space="preserve"> </a:t>
            </a: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sewer, or secure tenure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95728" y="1051560"/>
            <a:ext cx="2121408" cy="3566160"/>
          </a:xfrm>
          <a:prstGeom prst="rect">
            <a:avLst/>
          </a:prstGeom>
          <a:solidFill>
            <a:srgbClr val="21251C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1051560"/>
            <a:ext cx="2121408" cy="64008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2441448" y="1058418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4.5M→8M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87168" y="1920240"/>
            <a:ext cx="18470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will grow to 8M+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2035 — the city must absorb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 more people in 10 years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9746" y="1051560"/>
            <a:ext cx="1923078" cy="3566160"/>
          </a:xfrm>
          <a:prstGeom prst="rect">
            <a:avLst/>
          </a:prstGeom>
          <a:solidFill>
            <a:srgbClr val="21251C"/>
          </a:solidFill>
          <a:ln w="19050">
            <a:solidFill>
              <a:srgbClr val="E884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9746" y="1051560"/>
            <a:ext cx="1923078" cy="64008"/>
          </a:xfrm>
          <a:prstGeom prst="rect">
            <a:avLst/>
          </a:prstGeom>
          <a:solidFill>
            <a:srgbClr val="E8844A"/>
          </a:solidFill>
          <a:ln/>
        </p:spPr>
      </p:sp>
      <p:sp>
        <p:nvSpPr>
          <p:cNvPr id="17" name="Text 15"/>
          <p:cNvSpPr/>
          <p:nvPr/>
        </p:nvSpPr>
        <p:spPr>
          <a:xfrm>
            <a:off x="4654296" y="11887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45736" y="1920240"/>
            <a:ext cx="18470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in the matatu sector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displacement as transport</a:t>
            </a:r>
            <a:r>
              <a:rPr lang="en-US" sz="950" dirty="0"/>
              <a:t xml:space="preserve"> </a:t>
            </a: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decarbonise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1051560"/>
            <a:ext cx="2029968" cy="3566160"/>
          </a:xfrm>
          <a:prstGeom prst="rect">
            <a:avLst/>
          </a:prstGeom>
          <a:solidFill>
            <a:srgbClr val="21251C"/>
          </a:solidFill>
          <a:ln w="19050">
            <a:solidFill>
              <a:srgbClr val="E85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9984" y="1051560"/>
            <a:ext cx="2029968" cy="64008"/>
          </a:xfrm>
          <a:prstGeom prst="rect">
            <a:avLst/>
          </a:prstGeom>
          <a:solidFill>
            <a:srgbClr val="E85888"/>
          </a:solidFill>
          <a:ln/>
        </p:spPr>
      </p:sp>
      <p:sp>
        <p:nvSpPr>
          <p:cNvPr id="21" name="Text 19"/>
          <p:cNvSpPr/>
          <p:nvPr/>
        </p:nvSpPr>
        <p:spPr>
          <a:xfrm>
            <a:off x="6821424" y="1188720"/>
            <a:ext cx="184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5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47,000+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21424" y="1920240"/>
            <a:ext cx="18470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cancer cases per year 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radiotherapy machine per 5M people</a:t>
            </a:r>
            <a:r>
              <a:rPr lang="en-US" sz="950" dirty="0"/>
              <a:t xml:space="preserve"> </a:t>
            </a: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 per 250K in Europe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30-Year Transformation in 3 Phases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51560"/>
            <a:ext cx="2651760" cy="3749040"/>
          </a:xfrm>
          <a:prstGeom prst="rect">
            <a:avLst/>
          </a:prstGeom>
          <a:solidFill>
            <a:srgbClr val="21251C"/>
          </a:solidFill>
          <a:ln w="19050">
            <a:solidFill>
              <a:srgbClr val="5DB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51560"/>
            <a:ext cx="2651760" cy="457200"/>
          </a:xfrm>
          <a:prstGeom prst="rect">
            <a:avLst/>
          </a:prstGeom>
          <a:solidFill>
            <a:srgbClr val="5DBF7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0972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" y="131673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2025–2035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" y="1600200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3A3F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618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8328" y="1920240"/>
            <a:ext cx="2450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Settlement upgrading begins (500K homes)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BRT 4 corridors + 500 EV buses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land registry 100% complete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ward green spaces built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Emergency Command Centre live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50,000 youth apprenticeships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63240" y="1051560"/>
            <a:ext cx="2651760" cy="3749040"/>
          </a:xfrm>
          <a:prstGeom prst="rect">
            <a:avLst/>
          </a:prstGeom>
          <a:solidFill>
            <a:srgbClr val="21251C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1051560"/>
            <a:ext cx="2651760" cy="4572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6" name="Text 14"/>
          <p:cNvSpPr/>
          <p:nvPr/>
        </p:nvSpPr>
        <p:spPr>
          <a:xfrm>
            <a:off x="3172968" y="10972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131673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2035–2045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72968" y="1600200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3A3F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2968" y="1618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72968" y="1920240"/>
            <a:ext cx="2450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15,000 matatus bought back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3-line mass rail network opens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Silicon Savannah 2.0 at scale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85 wards with full facilities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Kibera + Mathare fully upgraded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100K youth in manufacturing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1051560"/>
            <a:ext cx="2651760" cy="3749040"/>
          </a:xfrm>
          <a:prstGeom prst="rect">
            <a:avLst/>
          </a:prstGeom>
          <a:solidFill>
            <a:srgbClr val="21251C"/>
          </a:solidFill>
          <a:ln w="19050">
            <a:solidFill>
              <a:srgbClr val="5DBF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051560"/>
            <a:ext cx="2651760" cy="457200"/>
          </a:xfrm>
          <a:prstGeom prst="rect">
            <a:avLst/>
          </a:prstGeom>
          <a:solidFill>
            <a:srgbClr val="5DBF7A"/>
          </a:solidFill>
          <a:ln/>
        </p:spPr>
      </p:sp>
      <p:sp>
        <p:nvSpPr>
          <p:cNvPr id="23" name="Text 21"/>
          <p:cNvSpPr/>
          <p:nvPr/>
        </p:nvSpPr>
        <p:spPr>
          <a:xfrm>
            <a:off x="6007608" y="10972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07608" y="131673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2045–2055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07608" y="1600200"/>
            <a:ext cx="109728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12700">
            <a:solidFill>
              <a:srgbClr val="3A3F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608" y="1618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007608" y="1920240"/>
            <a:ext cx="2450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zero-emission transit city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Africa's leading tech economy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informal settlements upgraded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Nairobi UNESCO Creative City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Pan-African City Authority model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Net-zero carbon city certified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DBF7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STRATEGIC PILLARS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Gets Built — Across the City, For Everyone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51560"/>
            <a:ext cx="4224528" cy="731520"/>
          </a:xfrm>
          <a:prstGeom prst="rect">
            <a:avLst/>
          </a:prstGeom>
          <a:solidFill>
            <a:srgbClr val="21251C"/>
          </a:solidFill>
          <a:ln w="12700">
            <a:solidFill>
              <a:srgbClr val="3DBF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51560"/>
            <a:ext cx="54864" cy="731520"/>
          </a:xfrm>
          <a:prstGeom prst="rect">
            <a:avLst/>
          </a:prstGeom>
          <a:solidFill>
            <a:srgbClr val="3DBF7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Urban Design &amp; Infrastructure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· Settlement upgrading · River corridor · MaaS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847088"/>
            <a:ext cx="4224528" cy="73152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847088"/>
            <a:ext cx="54864" cy="73152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92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Governance &amp; Institutions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167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Authority Act · Land registry · e-Citizen 2.0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642616"/>
            <a:ext cx="4224528" cy="731520"/>
          </a:xfrm>
          <a:prstGeom prst="rect">
            <a:avLst/>
          </a:prstGeom>
          <a:solidFill>
            <a:srgbClr val="21251C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642616"/>
            <a:ext cx="54864" cy="73152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688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Economy &amp; Finance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29626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Savannah 2.0 · FinTech · Green bonds · SEZ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3438144"/>
            <a:ext cx="4224528" cy="73152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438144"/>
            <a:ext cx="54864" cy="731520"/>
          </a:xfrm>
          <a:prstGeom prst="rect">
            <a:avLst/>
          </a:prstGeom>
          <a:solidFill>
            <a:srgbClr val="5DBF7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483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Environment &amp; Climate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7581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trees · EV fleet transition · Climate adaptation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4233672"/>
            <a:ext cx="4224528" cy="731520"/>
          </a:xfrm>
          <a:prstGeom prst="rect">
            <a:avLst/>
          </a:prstGeom>
          <a:solidFill>
            <a:srgbClr val="21251C"/>
          </a:solidFill>
          <a:ln w="12700">
            <a:solidFill>
              <a:srgbClr val="E85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4233672"/>
            <a:ext cx="54864" cy="731520"/>
          </a:xfrm>
          <a:prstGeom prst="rect">
            <a:avLst/>
          </a:prstGeom>
          <a:solidFill>
            <a:srgbClr val="E8588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279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Social Fabric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553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 universalisation · Pumwani/KNH upgrade · Sports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1051560"/>
            <a:ext cx="4224528" cy="731520"/>
          </a:xfrm>
          <a:prstGeom prst="rect">
            <a:avLst/>
          </a:prstGeom>
          <a:solidFill>
            <a:srgbClr val="21251C"/>
          </a:solidFill>
          <a:ln w="12700">
            <a:solidFill>
              <a:srgbClr val="8B79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051560"/>
            <a:ext cx="54864" cy="731520"/>
          </a:xfrm>
          <a:prstGeom prst="rect">
            <a:avLst/>
          </a:prstGeom>
          <a:solidFill>
            <a:srgbClr val="8B79E8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Technology &amp; Innovation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District · Gov API · Smart City OS · 5G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847088"/>
            <a:ext cx="4224528" cy="731520"/>
          </a:xfrm>
          <a:prstGeom prst="rect">
            <a:avLst/>
          </a:prstGeom>
          <a:solidFill>
            <a:srgbClr val="21251C"/>
          </a:solidFill>
          <a:ln w="12700">
            <a:solidFill>
              <a:srgbClr val="E884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847088"/>
            <a:ext cx="54864" cy="731520"/>
          </a:xfrm>
          <a:prstGeom prst="rect">
            <a:avLst/>
          </a:prstGeom>
          <a:solidFill>
            <a:srgbClr val="E8844A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892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Culture &amp; Creative City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2167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Matatu Heritage · 8 Creative Districts · Incubators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2642616"/>
            <a:ext cx="4224528" cy="731520"/>
          </a:xfrm>
          <a:prstGeom prst="rect">
            <a:avLst/>
          </a:prstGeom>
          <a:solidFill>
            <a:srgbClr val="21251C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642616"/>
            <a:ext cx="54864" cy="731520"/>
          </a:xfrm>
          <a:prstGeom prst="rect">
            <a:avLst/>
          </a:prstGeom>
          <a:solidFill>
            <a:srgbClr val="3FBFB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2688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Healthy Living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46320" y="29626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ward green spaces · Cycling network · Active city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438144"/>
            <a:ext cx="4224528" cy="731520"/>
          </a:xfrm>
          <a:prstGeom prst="rect">
            <a:avLst/>
          </a:prstGeom>
          <a:solidFill>
            <a:srgbClr val="21251C"/>
          </a:solidFill>
          <a:ln w="12700">
            <a:solidFill>
              <a:srgbClr val="78BF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438144"/>
            <a:ext cx="54864" cy="731520"/>
          </a:xfrm>
          <a:prstGeom prst="rect">
            <a:avLst/>
          </a:prstGeom>
          <a:solidFill>
            <a:srgbClr val="78BF45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483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Green Mass Transport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0" y="37581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buses · Mass rail · Matatu buyback · Cycling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4233672"/>
            <a:ext cx="4224528" cy="731520"/>
          </a:xfrm>
          <a:prstGeom prst="rect">
            <a:avLst/>
          </a:prstGeom>
          <a:solidFill>
            <a:srgbClr val="21251C"/>
          </a:solidFill>
          <a:ln w="12700">
            <a:solidFill>
              <a:srgbClr val="E86A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233672"/>
            <a:ext cx="54864" cy="731520"/>
          </a:xfrm>
          <a:prstGeom prst="rect">
            <a:avLst/>
          </a:prstGeom>
          <a:solidFill>
            <a:srgbClr val="E86A38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279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Emergency &amp; Disaster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46320" y="45537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 · 2,550 first responders · Early warning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DBF7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PROGRAMME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In-Situ Settlement Upgrading — No Demolition, No Displacement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51560"/>
            <a:ext cx="3931920" cy="3749040"/>
          </a:xfrm>
          <a:prstGeom prst="rect">
            <a:avLst/>
          </a:prstGeom>
          <a:solidFill>
            <a:srgbClr val="21251C"/>
          </a:solidFill>
          <a:ln w="19050">
            <a:solidFill>
              <a:srgbClr val="5DB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B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Principle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508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Same homes — not demolished, not relocated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984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Water + sewer installed around existing plots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24597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Title deed issued to every resident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29352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Street lighting, paved paths, green spaces added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" y="3410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Community co-design at every stage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38862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Anti-clearance provisions in law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051560"/>
            <a:ext cx="4206240" cy="86868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130861"/>
            <a:ext cx="14419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806440" y="1211580"/>
            <a:ext cx="17215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upgraded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1)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993392"/>
            <a:ext cx="4206240" cy="86868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203911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DB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806440" y="21031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relocations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2935224"/>
            <a:ext cx="4206240" cy="86868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62272" y="298094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DB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806440" y="304495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Sewage outfalls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3877056"/>
            <a:ext cx="4206240" cy="86868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392277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806440" y="398678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Kibera,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Mathare, Mukuru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8BF45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PILLAR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Diesel Chaos to Zero-Emission Mobility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97280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3DBF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97280"/>
            <a:ext cx="2697480" cy="54864"/>
          </a:xfrm>
          <a:prstGeom prst="rect">
            <a:avLst/>
          </a:prstGeom>
          <a:solidFill>
            <a:srgbClr val="3DBF7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DB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— 4 Corridors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5544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Thika, Mombasa, Ngong, Jogoo Roads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separated, EV fleet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0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097280"/>
            <a:ext cx="2697480" cy="54864"/>
          </a:xfrm>
          <a:prstGeom prst="rect">
            <a:avLst/>
          </a:prstGeom>
          <a:solidFill>
            <a:srgbClr val="5DBF7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12435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500→2,000 EV Buses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5544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500 buses on 20 routes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2,000 — all 47 wards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1097280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097280"/>
            <a:ext cx="269748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🚇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6520" y="1252728"/>
            <a:ext cx="1964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3-Line Mass Rail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15544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Thika–CBD · JKIA–CBD · Kibera–CBD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stations · Matatu-steel tracks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063240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E884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063240"/>
            <a:ext cx="2697480" cy="54864"/>
          </a:xfrm>
          <a:prstGeom prst="rect">
            <a:avLst/>
          </a:prstGeom>
          <a:solidFill>
            <a:srgbClr val="E8844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8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64628" y="3229882"/>
            <a:ext cx="16380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E-Boda Electrification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35204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80,000+ motorcycle taxis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Battery-swap network, not charging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108960" y="3063240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E86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3063240"/>
            <a:ext cx="2697480" cy="54864"/>
          </a:xfrm>
          <a:prstGeom prst="rect">
            <a:avLst/>
          </a:prstGeom>
          <a:solidFill>
            <a:srgbClr val="E86A38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6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566160" y="3214116"/>
            <a:ext cx="15339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Matatu Buyback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35204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matatus → recycled steel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workers retrained, zero job losses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9320" y="3063240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78BF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3063240"/>
            <a:ext cx="2697480" cy="54864"/>
          </a:xfrm>
          <a:prstGeom prst="rect">
            <a:avLst/>
          </a:prstGeom>
          <a:solidFill>
            <a:srgbClr val="78BF45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8B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46520" y="3235715"/>
            <a:ext cx="1667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500km Cycling Network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80760" y="352044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separated on all major roads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connectors lit + paved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79E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PILLAR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Silicon Savannah 2.0 — Africa's Innovation Capital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51560"/>
            <a:ext cx="4114800" cy="68580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972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FinTech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ecosystem · DeFi · Insurance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828800"/>
            <a:ext cx="4114800" cy="68580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74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AgriTech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2148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smallholders · Supply chain · Cold storage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606040"/>
            <a:ext cx="4114800" cy="685800"/>
          </a:xfrm>
          <a:prstGeom prst="rect">
            <a:avLst/>
          </a:prstGeom>
          <a:solidFill>
            <a:srgbClr val="21251C"/>
          </a:solidFill>
          <a:ln w="12700">
            <a:solidFill>
              <a:srgbClr val="E858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517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HealthTech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9260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· Diagnostics · EHR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3383280"/>
            <a:ext cx="4114800" cy="68580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4290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ClimateTech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" y="37033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markets · Solar · EV · Adaptation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4160520"/>
            <a:ext cx="4114800" cy="685800"/>
          </a:xfrm>
          <a:prstGeom prst="rect">
            <a:avLst/>
          </a:prstGeom>
          <a:solidFill>
            <a:srgbClr val="21251C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2062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PropTech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4480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title deeds · Tokenized REITs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051560"/>
            <a:ext cx="4206240" cy="3749040"/>
          </a:xfrm>
          <a:prstGeom prst="rect">
            <a:avLst/>
          </a:prstGeom>
          <a:solidFill>
            <a:srgbClr val="21251C"/>
          </a:solidFill>
          <a:ln w="19050">
            <a:solidFill>
              <a:srgbClr val="8B79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8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Nairobi Leads Africa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16642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M-Pesa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17190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15-year head start on any other city in mobile finance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011680"/>
            <a:ext cx="3931920" cy="13716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167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$2B/yr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26480" y="2221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direct investment target by 2035 — 10 sector accelerators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514600"/>
            <a:ext cx="3931920" cy="13716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26700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27249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jobs created by 2035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017520"/>
            <a:ext cx="3931920" cy="13716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1729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3227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VC ranking — already #1 East Africa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520440"/>
            <a:ext cx="3931920" cy="13716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675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Universities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26480" y="373075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Co-located in Innovation District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4023360"/>
            <a:ext cx="3931920" cy="13716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41788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API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26480" y="423367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data platform — 200+ endpoints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82923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CASE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$200B+ Investment Scope — 30 Years — 6 Financing Streams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78992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Green Climate Fund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DB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$2–5B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19476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upgrading + climate adaptation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078992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70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AfDB + World Bank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4813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$5–15B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00400" y="19476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BRT, mass rail, water infrastructure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1078992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8B79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17043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Private Equity + VC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14813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7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$10B+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80760" y="19476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Savannah tech, PropTech, FinTech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3044952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36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Diaspora Capital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4472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FB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$1–3B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0040" y="39136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bonds, REIT, community land trusts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08960" y="3044952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136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Green Bonds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34472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DB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$3–8B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200400" y="39136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fleet, urban forest, cycling network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9320" y="3044952"/>
            <a:ext cx="2697480" cy="178308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3136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Kenya Government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34472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$15–30B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080760" y="39136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Authority budget, land, public institutions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FBFB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&amp; ECOSYSTEM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Network Behind Nairobi 2055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51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Consultants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3A3F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08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60120" y="1371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3A3F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408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AECOM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91640" y="1371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3A3F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1408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23160" y="1371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3A3F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408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170078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3A3F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7373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Dalberg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60120" y="170078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3A3F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17373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Arcadis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91640" y="170078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3A3F32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21" name="Text 19"/>
          <p:cNvSpPr/>
          <p:nvPr/>
        </p:nvSpPr>
        <p:spPr>
          <a:xfrm>
            <a:off x="1691640" y="17373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23160" y="170078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3A3F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17373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IUCN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46120" y="1051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Investors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1371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1408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GCF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977640" y="1371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1408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AfDB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09160" y="1371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408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40680" y="13716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14081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46120" y="170078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17373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Fdn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977640" y="170078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17373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Fdn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09160" y="170078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17373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Novastar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40680" y="170078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173736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63640" y="1051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Anchor Partners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1389888"/>
            <a:ext cx="2651760" cy="274320"/>
          </a:xfrm>
          <a:prstGeom prst="rect">
            <a:avLst/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142646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Muungano wa Wanavijiji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63640" y="1737360"/>
            <a:ext cx="2651760" cy="274320"/>
          </a:xfrm>
          <a:prstGeom prst="rect">
            <a:avLst/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17739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 Mashinani Trust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63640" y="2084832"/>
            <a:ext cx="2651760" cy="274320"/>
          </a:xfrm>
          <a:prstGeom prst="rect">
            <a:avLst/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73368" y="21214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63640" y="2432304"/>
            <a:ext cx="2651760" cy="274320"/>
          </a:xfrm>
          <a:prstGeom prst="rect">
            <a:avLst/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73368" y="246888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JSCWG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263640" y="2779776"/>
            <a:ext cx="2651760" cy="274320"/>
          </a:xfrm>
          <a:prstGeom prst="rect">
            <a:avLst/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KE" dirty="0"/>
          </a:p>
        </p:txBody>
      </p:sp>
      <p:sp>
        <p:nvSpPr>
          <p:cNvPr id="51" name="Text 49"/>
          <p:cNvSpPr/>
          <p:nvPr/>
        </p:nvSpPr>
        <p:spPr>
          <a:xfrm>
            <a:off x="6373368" y="28163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63640" y="3127248"/>
            <a:ext cx="2651760" cy="274320"/>
          </a:xfrm>
          <a:prstGeom prst="rect">
            <a:avLst/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3" name="Text 51"/>
          <p:cNvSpPr/>
          <p:nvPr/>
        </p:nvSpPr>
        <p:spPr>
          <a:xfrm>
            <a:off x="6373368" y="31638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experts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63640" y="3474720"/>
            <a:ext cx="2651760" cy="274320"/>
          </a:xfrm>
          <a:prstGeom prst="rect">
            <a:avLst/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73368" y="35112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263640" y="3822192"/>
            <a:ext cx="2651760" cy="274320"/>
          </a:xfrm>
          <a:prstGeom prst="rect">
            <a:avLst/>
          </a:prstGeom>
          <a:solidFill>
            <a:srgbClr val="21251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73368" y="38587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B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Green Building Society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28600" y="4407408"/>
            <a:ext cx="8686800" cy="45720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44622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nairobi2055.org · 280+ interventions · 29 interactive visualisations · 4 scenarios · Partners database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79E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nairobi2055.org — The Masterplan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078992"/>
            <a:ext cx="2697480" cy="1691640"/>
          </a:xfrm>
          <a:prstGeom prst="rect">
            <a:avLst/>
          </a:prstGeom>
          <a:solidFill>
            <a:srgbClr val="21251C"/>
          </a:solidFill>
          <a:ln w="12700">
            <a:solidFill>
              <a:srgbClr val="3DBF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78992"/>
            <a:ext cx="2697480" cy="54864"/>
          </a:xfrm>
          <a:prstGeom prst="rect">
            <a:avLst/>
          </a:prstGeom>
          <a:solidFill>
            <a:srgbClr val="3DBF7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1216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Pillars 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554480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pillars · 280+ intervention cards · Click any card for deep-dive visualization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1078992"/>
            <a:ext cx="2697480" cy="169164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078992"/>
            <a:ext cx="2697480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216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Timeline 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18688" y="1554480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30-year timeline · Key milestones · Phase progression · Scenario comparison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1078992"/>
            <a:ext cx="2697480" cy="169164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1078992"/>
            <a:ext cx="2697480" cy="54864"/>
          </a:xfrm>
          <a:prstGeom prst="rect">
            <a:avLst/>
          </a:prstGeom>
          <a:solidFill>
            <a:srgbClr val="5DBF7A"/>
          </a:solidFill>
          <a:ln/>
        </p:spPr>
      </p:sp>
      <p:sp>
        <p:nvSpPr>
          <p:cNvPr id="17" name="Text 15"/>
          <p:cNvSpPr/>
          <p:nvPr/>
        </p:nvSpPr>
        <p:spPr>
          <a:xfrm>
            <a:off x="6099048" y="12161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Progress Tracker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9048" y="1554480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milestones complete · Track city progress · Ward-by-ward implementation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953512"/>
            <a:ext cx="2697480" cy="1691640"/>
          </a:xfrm>
          <a:prstGeom prst="rect">
            <a:avLst/>
          </a:prstGeom>
          <a:solidFill>
            <a:srgbClr val="21251C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953512"/>
            <a:ext cx="2697480" cy="54864"/>
          </a:xfrm>
          <a:prstGeom prst="rect">
            <a:avLst/>
          </a:prstGeom>
          <a:solidFill>
            <a:srgbClr val="3FBFB0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" y="30906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Partners Hub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" y="3429000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international firms · 28 investors · 20+ local professionals · Fully searchable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08960" y="2953512"/>
            <a:ext cx="2697480" cy="1691640"/>
          </a:xfrm>
          <a:prstGeom prst="rect">
            <a:avLst/>
          </a:prstGeom>
          <a:solidFill>
            <a:srgbClr val="21251C"/>
          </a:solidFill>
          <a:ln w="12700">
            <a:solidFill>
              <a:srgbClr val="8B7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2953512"/>
            <a:ext cx="2697480" cy="54864"/>
          </a:xfrm>
          <a:prstGeom prst="rect">
            <a:avLst/>
          </a:prstGeom>
          <a:solidFill>
            <a:srgbClr val="8B79E8"/>
          </a:solidFill>
          <a:ln/>
        </p:spPr>
      </p:sp>
      <p:sp>
        <p:nvSpPr>
          <p:cNvPr id="25" name="Text 23"/>
          <p:cNvSpPr/>
          <p:nvPr/>
        </p:nvSpPr>
        <p:spPr>
          <a:xfrm>
            <a:off x="3218688" y="30906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29 Visualisations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18688" y="3429000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maps · Before/after renders · Process diagrams · Benchmark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2953512"/>
            <a:ext cx="2697480" cy="1691640"/>
          </a:xfrm>
          <a:prstGeom prst="rect">
            <a:avLst/>
          </a:prstGeom>
          <a:solidFill>
            <a:srgbClr val="21251C"/>
          </a:solidFill>
          <a:ln w="12700">
            <a:solidFill>
              <a:srgbClr val="E884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2953512"/>
            <a:ext cx="2697480" cy="54864"/>
          </a:xfrm>
          <a:prstGeom prst="rect">
            <a:avLst/>
          </a:prstGeom>
          <a:solidFill>
            <a:srgbClr val="E8844A"/>
          </a:solidFill>
          <a:ln/>
        </p:spPr>
      </p:sp>
      <p:sp>
        <p:nvSpPr>
          <p:cNvPr id="29" name="Text 27"/>
          <p:cNvSpPr/>
          <p:nvPr/>
        </p:nvSpPr>
        <p:spPr>
          <a:xfrm>
            <a:off x="6099048" y="30906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4 Scenarios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99048" y="3429000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· Realistic · Disruption · Crisis — full plan adapts to each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4443984"/>
            <a:ext cx="8686800" cy="402336"/>
          </a:xfrm>
          <a:prstGeom prst="rect">
            <a:avLst/>
          </a:prstGeom>
          <a:solidFill>
            <a:srgbClr val="21251C"/>
          </a:solidFill>
          <a:ln w="12700">
            <a:solidFill>
              <a:srgbClr val="8B79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4805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8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 nairobi2055.org  |  Open source on GitHub  |  Built for Nairobi County Government + Partners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16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nairobi2055.org  ·  hello@nairobi2055.org  ·  info@nairobi2055.org  ·  projects@nairobi2055.org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TRANSFORMATION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0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Nairobi 2055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8A88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 choice — not a prediction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2670048"/>
            <a:ext cx="45720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" y="2816352"/>
            <a:ext cx="2029968" cy="164592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816352"/>
            <a:ext cx="2029968" cy="54864"/>
          </a:xfrm>
          <a:prstGeom prst="rect">
            <a:avLst/>
          </a:prstGeom>
          <a:solidFill>
            <a:srgbClr val="5DBF7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" y="29260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B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" y="3273552"/>
            <a:ext cx="18105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sector or pillar · Green bonds · DFI co-investment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2816352"/>
            <a:ext cx="2029968" cy="164592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2816352"/>
            <a:ext cx="2029968" cy="54864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29260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14600" y="3273552"/>
            <a:ext cx="18105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firm's expertise to the city's transformation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81144" y="2816352"/>
            <a:ext cx="2029968" cy="1645920"/>
          </a:xfrm>
          <a:prstGeom prst="rect">
            <a:avLst/>
          </a:prstGeom>
          <a:solidFill>
            <a:srgbClr val="21251C"/>
          </a:solidFill>
          <a:ln w="12700">
            <a:solidFill>
              <a:srgbClr val="8B79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1144" y="2816352"/>
            <a:ext cx="2029968" cy="54864"/>
          </a:xfrm>
          <a:prstGeom prst="rect">
            <a:avLst/>
          </a:prstGeom>
          <a:solidFill>
            <a:srgbClr val="8B79E8"/>
          </a:solidFill>
          <a:ln/>
        </p:spPr>
      </p:sp>
      <p:sp>
        <p:nvSpPr>
          <p:cNvPr id="20" name="Text 18"/>
          <p:cNvSpPr/>
          <p:nvPr/>
        </p:nvSpPr>
        <p:spPr>
          <a:xfrm>
            <a:off x="4690872" y="29260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79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90872" y="3273552"/>
            <a:ext cx="18105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technical advisory network · Benchmark city expertise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57416" y="2816352"/>
            <a:ext cx="2029968" cy="1645920"/>
          </a:xfrm>
          <a:prstGeom prst="rect">
            <a:avLst/>
          </a:prstGeom>
          <a:solidFill>
            <a:srgbClr val="21251C"/>
          </a:solidFill>
          <a:ln w="12700">
            <a:solidFill>
              <a:srgbClr val="E85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57416" y="2816352"/>
            <a:ext cx="2029968" cy="54864"/>
          </a:xfrm>
          <a:prstGeom prst="rect">
            <a:avLst/>
          </a:prstGeom>
          <a:solidFill>
            <a:srgbClr val="E85888"/>
          </a:solidFill>
          <a:ln/>
        </p:spPr>
      </p:sp>
      <p:sp>
        <p:nvSpPr>
          <p:cNvPr id="24" name="Text 22"/>
          <p:cNvSpPr/>
          <p:nvPr/>
        </p:nvSpPr>
        <p:spPr>
          <a:xfrm>
            <a:off x="6867144" y="2926080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Advocate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67144" y="3273552"/>
            <a:ext cx="18105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the City Authority Act · Community co-design leadership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irobi2055 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Accen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4" name="SectionLabel"/>
          <p:cNvSpPr/>
          <p:nvPr/>
        </p:nvSpPr>
        <p:spPr>
          <a:xfrm>
            <a:off x="228600" y="201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</a:rPr>
              <a:t>LEGAL FRAMEWORK</a:t>
            </a:r>
          </a:p>
        </p:txBody>
      </p:sp>
      <p:sp>
        <p:nvSpPr>
          <p:cNvPr id="5" name="Title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EAD6"/>
                </a:solidFill>
                <a:latin typeface="Georgia" pitchFamily="34" charset="0"/>
              </a:rPr>
              <a:t>The Nairobi2055 Act — Built to Outlast Any Government</a:t>
            </a:r>
          </a:p>
        </p:txBody>
      </p:sp>
      <p:sp>
        <p:nvSpPr>
          <p:cNvPr id="6" name="Divider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LeftPanel"/>
          <p:cNvSpPr/>
          <p:nvPr/>
        </p:nvSpPr>
        <p:spPr>
          <a:xfrm>
            <a:off x="228600" y="1051560"/>
            <a:ext cx="3931920" cy="3749040"/>
          </a:xfrm>
          <a:prstGeom prst="rect">
            <a:avLst/>
          </a:prstGeom>
          <a:solidFill>
            <a:srgbClr val="21251C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8" name="PanelHeader"/>
          <p:cNvSpPr/>
          <p:nvPr/>
        </p:nvSpPr>
        <p:spPr>
          <a:xfrm>
            <a:off x="347472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A84B"/>
                </a:solidFill>
                <a:latin typeface="Georgia" pitchFamily="34" charset="0"/>
              </a:rPr>
              <a:t>What the Act Establishes</a:t>
            </a:r>
          </a:p>
        </p:txBody>
      </p:sp>
      <p:sp>
        <p:nvSpPr>
          <p:cNvPr id="9" name="P1"/>
          <p:cNvSpPr/>
          <p:nvPr/>
        </p:nvSpPr>
        <p:spPr>
          <a:xfrm>
            <a:off x="347472" y="1490040"/>
            <a:ext cx="374904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✓  30-year masterplan codified in national statute — not reversible by executive order alone</a:t>
            </a:r>
          </a:p>
        </p:txBody>
      </p:sp>
      <p:sp>
        <p:nvSpPr>
          <p:cNvPr id="10" name="P2"/>
          <p:cNvSpPr/>
          <p:nvPr/>
        </p:nvSpPr>
        <p:spPr>
          <a:xfrm>
            <a:off x="347472" y="1920040"/>
            <a:ext cx="374904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✓  Independent City Transformation Authority — insulated from ministerial interference and electoral cycles</a:t>
            </a:r>
          </a:p>
        </p:txBody>
      </p:sp>
      <p:sp>
        <p:nvSpPr>
          <p:cNvPr id="11" name="P3"/>
          <p:cNvSpPr/>
          <p:nvPr/>
        </p:nvSpPr>
        <p:spPr>
          <a:xfrm>
            <a:off x="347472" y="2350040"/>
            <a:ext cx="374904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✓  Ring-fenced Transformation Fund — protected from national budget cuts and fiscal consolidation</a:t>
            </a:r>
          </a:p>
        </p:txBody>
      </p:sp>
      <p:sp>
        <p:nvSpPr>
          <p:cNvPr id="12" name="P4"/>
          <p:cNvSpPr/>
          <p:nvPr/>
        </p:nvSpPr>
        <p:spPr>
          <a:xfrm>
            <a:off x="347472" y="2780040"/>
            <a:ext cx="374904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✓  Anti-displacement clause — forced clearances prohibited; requires court order and full resettlement</a:t>
            </a:r>
          </a:p>
        </p:txBody>
      </p:sp>
      <p:sp>
        <p:nvSpPr>
          <p:cNvPr id="13" name="P5"/>
          <p:cNvSpPr/>
          <p:nvPr/>
        </p:nvSpPr>
        <p:spPr>
          <a:xfrm>
            <a:off x="347472" y="3210040"/>
            <a:ext cx="374904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✓  Mandatory 5-year public review — Parliament, civil society, and city residents must all be heard</a:t>
            </a:r>
          </a:p>
        </p:txBody>
      </p:sp>
      <p:sp>
        <p:nvSpPr>
          <p:cNvPr id="14" name="P6"/>
          <p:cNvSpPr/>
          <p:nvPr/>
        </p:nvSpPr>
        <p:spPr>
          <a:xfrm>
            <a:off x="347472" y="3640040"/>
            <a:ext cx="3749040" cy="37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✓  Two-thirds parliamentary majority required to repeal or substantively amend</a:t>
            </a:r>
          </a:p>
        </p:txBody>
      </p:sp>
      <p:sp>
        <p:nvSpPr>
          <p:cNvPr id="15" name="StatBox1"/>
          <p:cNvSpPr/>
          <p:nvPr/>
        </p:nvSpPr>
        <p:spPr>
          <a:xfrm>
            <a:off x="4343400" y="1051560"/>
            <a:ext cx="4571040" cy="86868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6" name="StatNum1"/>
          <p:cNvSpPr/>
          <p:nvPr/>
        </p:nvSpPr>
        <p:spPr>
          <a:xfrm>
            <a:off x="4462272" y="113000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A84B"/>
                </a:solidFill>
                <a:latin typeface="Georgia" pitchFamily="34" charset="0"/>
              </a:rPr>
              <a:t>30</a:t>
            </a:r>
          </a:p>
        </p:txBody>
      </p:sp>
      <p:sp>
        <p:nvSpPr>
          <p:cNvPr id="17" name="StatLbl1"/>
          <p:cNvSpPr/>
          <p:nvPr/>
        </p:nvSpPr>
        <p:spPr>
          <a:xfrm>
            <a:off x="5806440" y="1200000"/>
            <a:ext cx="200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Year statutory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plan horizon</a:t>
            </a:r>
          </a:p>
        </p:txBody>
      </p:sp>
      <p:sp>
        <p:nvSpPr>
          <p:cNvPr id="18" name="StatBox2"/>
          <p:cNvSpPr/>
          <p:nvPr/>
        </p:nvSpPr>
        <p:spPr>
          <a:xfrm>
            <a:off x="4343400" y="2085000"/>
            <a:ext cx="4571040" cy="86868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19" name="StatNum2"/>
          <p:cNvSpPr/>
          <p:nvPr/>
        </p:nvSpPr>
        <p:spPr>
          <a:xfrm>
            <a:off x="4462272" y="2163000"/>
            <a:ext cx="156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DBF7A"/>
                </a:solidFill>
                <a:latin typeface="Georgia" pitchFamily="34" charset="0"/>
              </a:rPr>
              <a:t>2/3</a:t>
            </a:r>
          </a:p>
        </p:txBody>
      </p:sp>
      <p:sp>
        <p:nvSpPr>
          <p:cNvPr id="20" name="StatLbl2"/>
          <p:cNvSpPr/>
          <p:nvPr/>
        </p:nvSpPr>
        <p:spPr>
          <a:xfrm>
            <a:off x="6082272" y="2233000"/>
            <a:ext cx="200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Parliament majority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to repeal</a:t>
            </a:r>
          </a:p>
        </p:txBody>
      </p:sp>
      <p:sp>
        <p:nvSpPr>
          <p:cNvPr id="21" name="StatBox3"/>
          <p:cNvSpPr/>
          <p:nvPr/>
        </p:nvSpPr>
        <p:spPr>
          <a:xfrm>
            <a:off x="4343400" y="3118000"/>
            <a:ext cx="4571040" cy="868680"/>
          </a:xfrm>
          <a:prstGeom prst="rect">
            <a:avLst/>
          </a:prstGeom>
          <a:solidFill>
            <a:srgbClr val="21251C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22" name="StatNum3"/>
          <p:cNvSpPr/>
          <p:nvPr/>
        </p:nvSpPr>
        <p:spPr>
          <a:xfrm>
            <a:off x="4462272" y="3196000"/>
            <a:ext cx="144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A84B"/>
                </a:solidFill>
                <a:latin typeface="Georgia" pitchFamily="34" charset="0"/>
              </a:rPr>
              <a:t>5yr</a:t>
            </a:r>
          </a:p>
        </p:txBody>
      </p:sp>
      <p:sp>
        <p:nvSpPr>
          <p:cNvPr id="23" name="StatLbl3"/>
          <p:cNvSpPr/>
          <p:nvPr/>
        </p:nvSpPr>
        <p:spPr>
          <a:xfrm>
            <a:off x="5962272" y="3266000"/>
            <a:ext cx="200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Mandatory public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review cycle</a:t>
            </a:r>
          </a:p>
        </p:txBody>
      </p:sp>
      <p:sp>
        <p:nvSpPr>
          <p:cNvPr id="24" name="StatBox4"/>
          <p:cNvSpPr/>
          <p:nvPr/>
        </p:nvSpPr>
        <p:spPr>
          <a:xfrm>
            <a:off x="4343400" y="4160000"/>
            <a:ext cx="4571040" cy="640600"/>
          </a:xfrm>
          <a:prstGeom prst="rect">
            <a:avLst/>
          </a:prstGeom>
          <a:solidFill>
            <a:srgbClr val="21251C"/>
          </a:solidFill>
          <a:ln w="12700">
            <a:solidFill>
              <a:srgbClr val="5DBF7A"/>
            </a:solidFill>
            <a:prstDash val="solid"/>
          </a:ln>
        </p:spPr>
      </p:sp>
      <p:sp>
        <p:nvSpPr>
          <p:cNvPr id="25" name="AlignText"/>
          <p:cNvSpPr/>
          <p:nvPr/>
        </p:nvSpPr>
        <p:spPr>
          <a:xfrm>
            <a:off x="4462272" y="4220000"/>
            <a:ext cx="434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BF7A"/>
                </a:solidFill>
                <a:latin typeface="Calibri" pitchFamily="34" charset="0"/>
              </a:rPr>
              <a:t xml:space="preserve">Aligned: </a:t>
            </a:r>
            <a:r>
              <a:rPr lang="en-US" sz="1000" dirty="0">
                <a:solidFill>
                  <a:srgbClr val="8A8878"/>
                </a:solidFill>
                <a:latin typeface="Calibri" pitchFamily="34" charset="0"/>
              </a:rPr>
              <a:t>Paris Agreement · UN SDGs · AU Agenda 2063 · Kenya Vision 2030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Nairobi20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610"/>
          </a:solidFill>
          <a:ln/>
        </p:spPr>
      </p:sp>
      <p:sp>
        <p:nvSpPr>
          <p:cNvPr id="3" name="Accen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5050"/>
          </a:solidFill>
          <a:ln/>
        </p:spPr>
      </p:sp>
      <p:sp>
        <p:nvSpPr>
          <p:cNvPr id="4" name="Label"/>
          <p:cNvSpPr/>
          <p:nvPr/>
        </p:nvSpPr>
        <p:spPr>
          <a:xfrm>
            <a:off x="228600" y="201168"/>
            <a:ext cx="500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8A8878"/>
                </a:solidFill>
                <a:latin typeface="Calibri" pitchFamily="34" charset="0"/>
              </a:rPr>
              <a:t>THE CASE FOR CHANGE</a:t>
            </a:r>
          </a:p>
        </p:txBody>
      </p:sp>
      <p:sp>
        <p:nvSpPr>
          <p:cNvPr id="5" name="Title"/>
          <p:cNvSpPr/>
          <p:nvPr/>
        </p:nvSpPr>
        <p:spPr>
          <a:xfrm>
            <a:off x="228600" y="34747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EAD6"/>
                </a:solidFill>
                <a:latin typeface="Georgia" pitchFamily="34" charset="0"/>
              </a:rPr>
              <a:t>Why Previous Plans Failed — And Why This One Won’t</a:t>
            </a:r>
          </a:p>
        </p:txBody>
      </p:sp>
      <p:sp>
        <p:nvSpPr>
          <p:cNvPr id="6" name="Divider"/>
          <p:cNvSpPr/>
          <p:nvPr/>
        </p:nvSpPr>
        <p:spPr>
          <a:xfrm>
            <a:off x="228600" y="932688"/>
            <a:ext cx="8686800" cy="22860"/>
          </a:xfrm>
          <a:prstGeom prst="rect">
            <a:avLst/>
          </a:prstGeom>
          <a:solidFill>
            <a:srgbClr val="3A3F32"/>
          </a:solidFill>
          <a:ln/>
        </p:spPr>
      </p:sp>
      <p:sp>
        <p:nvSpPr>
          <p:cNvPr id="7" name="Failures"/>
          <p:cNvSpPr/>
          <p:nvPr/>
        </p:nvSpPr>
        <p:spPr>
          <a:xfrm>
            <a:off x="228600" y="990000"/>
            <a:ext cx="5900000" cy="40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 spcBef="120000">
              <a:buNone/>
            </a:pPr>
            <a:r>
              <a:rPr lang="en-US" sz="1100" b="1" dirty="0">
                <a:solidFill>
                  <a:srgbClr val="E85050"/>
                </a:solidFill>
                <a:latin typeface="Calibri" pitchFamily="34" charset="0"/>
              </a:rPr>
              <a:t>✗  Authored about communities, not with them</a:t>
            </a:r>
          </a:p>
          <a:p>
            <a:pPr marL="457200" indent="0" spcBef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</a:rPr>
              <a:t>Technocratic documents filed on shelves. No community ownership = no political cost to ignoring them.</a:t>
            </a:r>
          </a:p>
          <a:p>
            <a:pPr marL="0" indent="0" spcBef="120000">
              <a:buNone/>
            </a:pPr>
            <a:r>
              <a:rPr lang="en-US" sz="1100" b="1" dirty="0">
                <a:solidFill>
                  <a:srgbClr val="E85050"/>
                </a:solidFill>
                <a:latin typeface="Calibri" pitchFamily="34" charset="0"/>
              </a:rPr>
              <a:t>✗  No financing architecture</a:t>
            </a:r>
          </a:p>
          <a:p>
            <a:pPr marL="457200" indent="0" spcBef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</a:rPr>
              <a:t>Beautiful visions with no named investors, no ticket sizes, no blended finance. Ambition without Treasury.</a:t>
            </a:r>
          </a:p>
          <a:p>
            <a:pPr marL="0" indent="0" spcBef="120000">
              <a:buNone/>
            </a:pPr>
            <a:r>
              <a:rPr lang="en-US" sz="1100" b="1" dirty="0">
                <a:solidFill>
                  <a:srgbClr val="E85050"/>
                </a:solidFill>
                <a:latin typeface="Calibri" pitchFamily="34" charset="0"/>
              </a:rPr>
              <a:t>✗  Treated informal settlements as a problem for later</a:t>
            </a:r>
          </a:p>
          <a:p>
            <a:pPr marL="457200" indent="0" spcBef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</a:rPr>
              <a:t>“Later” usually meant clearance. None said no demolition, no displacement as a binding principle.</a:t>
            </a:r>
          </a:p>
          <a:p>
            <a:pPr marL="0" indent="0" spcBef="120000">
              <a:buNone/>
            </a:pPr>
            <a:r>
              <a:rPr lang="en-US" sz="1100" b="1" dirty="0">
                <a:solidFill>
                  <a:srgbClr val="E85050"/>
                </a:solidFill>
                <a:latin typeface="Calibri" pitchFamily="34" charset="0"/>
              </a:rPr>
              <a:t>✗  Static documents</a:t>
            </a:r>
          </a:p>
          <a:p>
            <a:pPr marL="457200" indent="0" spcBef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</a:rPr>
              <a:t>A PDF cannot adapt to a change of government, a climate emergency, or a new economic reality.</a:t>
            </a:r>
          </a:p>
          <a:p>
            <a:pPr marL="0" indent="0" spcBef="120000">
              <a:buNone/>
            </a:pPr>
            <a:r>
              <a:rPr lang="en-US" sz="1100" b="1" dirty="0">
                <a:solidFill>
                  <a:srgbClr val="E85050"/>
                </a:solidFill>
                <a:latin typeface="Calibri" pitchFamily="34" charset="0"/>
              </a:rPr>
              <a:t>✗  No accountability mechanism</a:t>
            </a:r>
          </a:p>
          <a:p>
            <a:pPr marL="457200" indent="0" spcBef="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</a:rPr>
              <a:t>No one could check what was implemented, what wasn’t, or why. Plans simply faded.</a:t>
            </a:r>
          </a:p>
        </p:txBody>
      </p:sp>
      <p:sp>
        <p:nvSpPr>
          <p:cNvPr id="8" name="CalloutBG"/>
          <p:cNvSpPr/>
          <p:nvPr/>
        </p:nvSpPr>
        <p:spPr>
          <a:xfrm>
            <a:off x="6330000" y="990000"/>
            <a:ext cx="2585000" cy="3900000"/>
          </a:xfrm>
          <a:prstGeom prst="rect">
            <a:avLst/>
          </a:prstGeom>
          <a:solidFill>
            <a:srgbClr val="1C1E18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9" name="CalloutBar"/>
          <p:cNvSpPr/>
          <p:nvPr/>
        </p:nvSpPr>
        <p:spPr>
          <a:xfrm>
            <a:off x="6330000" y="990000"/>
            <a:ext cx="2585000" cy="60000"/>
          </a:xfrm>
          <a:prstGeom prst="rect">
            <a:avLst/>
          </a:prstGeom>
          <a:solidFill>
            <a:srgbClr val="C8A84B"/>
          </a:solidFill>
          <a:ln/>
        </p:spPr>
      </p:sp>
      <p:sp>
        <p:nvSpPr>
          <p:cNvPr id="10" name="CalloutText"/>
          <p:cNvSpPr/>
          <p:nvPr/>
        </p:nvSpPr>
        <p:spPr>
          <a:xfrm>
            <a:off x="6420000" y="1120000"/>
            <a:ext cx="2400000" cy="370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 spcBef="0">
              <a:buNone/>
            </a:pPr>
            <a:r>
              <a:rPr lang="en-US" sz="900" b="1" kern="0" spc="200" dirty="0">
                <a:solidFill>
                  <a:srgbClr val="C8A84B"/>
                </a:solidFill>
                <a:latin typeface="Calibri" pitchFamily="34" charset="0"/>
              </a:rPr>
              <a:t>NAIROBI 2055</a:t>
            </a:r>
          </a:p>
          <a:p>
            <a:pPr marL="0" indent="0" spcBef="120000">
              <a:buNone/>
            </a:pPr>
            <a:r>
              <a:rPr lang="en-US" sz="1800" b="1" dirty="0">
                <a:solidFill>
                  <a:srgbClr val="F0EAD6"/>
                </a:solidFill>
                <a:latin typeface="Georgia" pitchFamily="34" charset="0"/>
              </a:rPr>
              <a:t>Breaks every single one of those patterns.</a:t>
            </a:r>
          </a:p>
          <a:p>
            <a:pPr marL="0" indent="0" spcBef="240000">
              <a:buNone/>
            </a:pPr>
            <a:r>
              <a:rPr lang="en-US" sz="900" dirty="0">
                <a:solidFill>
                  <a:srgbClr val="8A8878"/>
                </a:solidFill>
                <a:latin typeface="Calibri" pitchFamily="34" charset="0"/>
              </a:rPr>
              <a:t>Community-owned. Legally anchored. Financed. Adaptive. Publicly tracked.</a:t>
            </a:r>
          </a:p>
          <a:p>
            <a:pPr marL="0" indent="0" spcBef="300000">
              <a:buNone/>
            </a:pPr>
            <a:r>
              <a:rPr lang="en-US" sz="1100" b="1" dirty="0">
                <a:solidFill>
                  <a:srgbClr val="5DBF7A"/>
                </a:solidFill>
                <a:latin typeface="Georgia" pitchFamily="34" charset="0"/>
              </a:rPr>
              <a:t>✓ Community co-authored</a:t>
            </a:r>
          </a:p>
          <a:p>
            <a:pPr marL="0" indent="0" spcBef="120000">
              <a:buNone/>
            </a:pPr>
            <a:r>
              <a:rPr lang="en-US" sz="1100" b="1" dirty="0">
                <a:solidFill>
                  <a:srgbClr val="5DBF7A"/>
                </a:solidFill>
                <a:latin typeface="Georgia" pitchFamily="34" charset="0"/>
              </a:rPr>
              <a:t>✓ $200B+ financing roadmap</a:t>
            </a:r>
          </a:p>
          <a:p>
            <a:pPr marL="0" indent="0" spcBef="120000">
              <a:buNone/>
            </a:pPr>
            <a:r>
              <a:rPr lang="en-US" sz="1100" b="1" dirty="0">
                <a:solidFill>
                  <a:srgbClr val="5DBF7A"/>
                </a:solidFill>
                <a:latin typeface="Georgia" pitchFamily="34" charset="0"/>
              </a:rPr>
              <a:t>✓ No demolition, legally binding</a:t>
            </a:r>
          </a:p>
          <a:p>
            <a:pPr marL="0" indent="0" spcBef="120000">
              <a:buNone/>
            </a:pPr>
            <a:r>
              <a:rPr lang="en-US" sz="1100" b="1" dirty="0">
                <a:solidFill>
                  <a:srgbClr val="5DBF7A"/>
                </a:solidFill>
                <a:latin typeface="Georgia" pitchFamily="34" charset="0"/>
              </a:rPr>
              <a:t>✓ Living digital platform</a:t>
            </a:r>
          </a:p>
          <a:p>
            <a:pPr marL="0" indent="0" spcBef="120000">
              <a:buNone/>
            </a:pPr>
            <a:r>
              <a:rPr lang="en-US" sz="1100" b="1" dirty="0">
                <a:solidFill>
                  <a:srgbClr val="5DBF7A"/>
                </a:solidFill>
                <a:latin typeface="Georgia" pitchFamily="34" charset="0"/>
              </a:rPr>
              <a:t>✓ Public accountability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1069</Words>
  <Application>Microsoft Macintosh PowerPoint</Application>
  <PresentationFormat>On-screen Show (16:9)</PresentationFormat>
  <Paragraphs>240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Nairobi 2055 — Transformation Master Plan</dc:title>
  <dc:subject>PptxGenJS Presentation</dc:subject>
  <dc:creator>Nairobi 2055 Transformation Initiative</dc:creator>
  <cp:lastModifiedBy>Microsoft Office User</cp:lastModifiedBy>
  <cp:revision>8</cp:revision>
  <dcterms:created xsi:type="dcterms:W3CDTF">2026-03-28T18:36:08Z</dcterms:created>
  <dcterms:modified xsi:type="dcterms:W3CDTF">2026-03-28T22:13:18Z</dcterms:modified>
</cp:coreProperties>
</file>